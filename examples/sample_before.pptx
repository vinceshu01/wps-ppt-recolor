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E74C3C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</c:v>
                </c:pt>
                <c:pt idx="1">
                  <c:v>22</c:v>
                </c:pt>
                <c:pt idx="2">
                  <c:v>21</c:v>
                </c:pt>
                <c:pt idx="3">
                  <c:v>26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8E44AD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15</c:v>
                </c:pt>
                <c:pt idx="1">
                  <c:v>24</c:v>
                </c:pt>
                <c:pt idx="2">
                  <c:v>19</c:v>
                </c:pt>
                <c:pt idx="3">
                  <c:v>29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band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k title"/>
          <p:cNvSpPr txBox="1"/>
          <p:nvPr/>
        </p:nvSpPr>
        <p:spPr>
          <a:xfrm>
            <a:off x="731520" y="21945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B3A5C"/>
                </a:solidFill>
              </a:rPr>
              <a:t>Quarterly Business Review</a:t>
            </a:r>
          </a:p>
        </p:txBody>
      </p:sp>
      <p:sp>
        <p:nvSpPr>
          <p:cNvPr id="4" name="Deck subtitle"/>
          <p:cNvSpPr txBox="1"/>
          <p:nvPr/>
        </p:nvSpPr>
        <p:spPr>
          <a:xfrm>
            <a:off x="731520" y="32918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2E8B8B"/>
                </a:solidFill>
              </a:rPr>
              <a:t>Sample deck — synthetic data, no real figures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ection title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B3A5C"/>
                </a:solidFill>
              </a:rPr>
              <a:t>Performance overview</a:t>
            </a:r>
          </a:p>
        </p:txBody>
      </p:sp>
      <p:sp>
        <p:nvSpPr>
          <p:cNvPr id="3" name="KPI Revenue"/>
          <p:cNvSpPr/>
          <p:nvPr/>
        </p:nvSpPr>
        <p:spPr>
          <a:xfrm>
            <a:off x="731520" y="1554480"/>
            <a:ext cx="3383280" cy="146304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600" b="1">
                <a:solidFill>
                  <a:srgbClr val="FFFFFF"/>
                </a:solidFill>
              </a:rPr>
              <a:t>12.4M</a:t>
            </a:r>
          </a:p>
          <a:p>
            <a:r>
              <a:rPr sz="1200" b="0">
                <a:solidFill>
                  <a:srgbClr val="FFFFFF"/>
                </a:solidFill>
              </a:rPr>
              <a:t>Revenue</a:t>
            </a:r>
          </a:p>
        </p:txBody>
      </p:sp>
      <p:sp>
        <p:nvSpPr>
          <p:cNvPr id="4" name="KPI Margin"/>
          <p:cNvSpPr/>
          <p:nvPr/>
        </p:nvSpPr>
        <p:spPr>
          <a:xfrm>
            <a:off x="4389120" y="1554480"/>
            <a:ext cx="3383280" cy="1463040"/>
          </a:xfrm>
          <a:prstGeom prst="roundRect">
            <a:avLst/>
          </a:prstGeom>
          <a:solidFill>
            <a:srgbClr val="2E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600" b="1">
                <a:solidFill>
                  <a:srgbClr val="FFFFFF"/>
                </a:solidFill>
              </a:rPr>
              <a:t>31%</a:t>
            </a:r>
          </a:p>
          <a:p>
            <a:r>
              <a:rPr sz="1200" b="0">
                <a:solidFill>
                  <a:srgbClr val="FFFFFF"/>
                </a:solidFill>
              </a:rPr>
              <a:t>Margin</a:t>
            </a:r>
          </a:p>
        </p:txBody>
      </p:sp>
      <p:sp>
        <p:nvSpPr>
          <p:cNvPr id="5" name="KPI Churn"/>
          <p:cNvSpPr/>
          <p:nvPr/>
        </p:nvSpPr>
        <p:spPr>
          <a:xfrm>
            <a:off x="8046720" y="1554480"/>
            <a:ext cx="3383280" cy="1463040"/>
          </a:xfrm>
          <a:prstGeom prst="roundRect">
            <a:avLst/>
          </a:prstGeom>
          <a:solidFill>
            <a:srgbClr val="ED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600" b="1">
                <a:solidFill>
                  <a:srgbClr val="FFFFFF"/>
                </a:solidFill>
              </a:rPr>
              <a:t>2.1%</a:t>
            </a:r>
          </a:p>
          <a:p>
            <a:r>
              <a:rPr sz="1200" b="0">
                <a:solidFill>
                  <a:srgbClr val="FFFFFF"/>
                </a:solidFill>
              </a:rPr>
              <a:t>Churn</a:t>
            </a:r>
          </a:p>
        </p:txBody>
      </p:sp>
      <p:sp>
        <p:nvSpPr>
          <p:cNvPr id="6" name="Diagram caption"/>
          <p:cNvSpPr txBox="1"/>
          <p:nvPr/>
        </p:nvSpPr>
        <p:spPr>
          <a:xfrm>
            <a:off x="731520" y="329184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12283F"/>
                </a:solidFill>
              </a:rPr>
              <a:t>Value chain — pasted from a vendor template</a:t>
            </a:r>
          </a:p>
        </p:txBody>
      </p:sp>
      <p:grpSp>
        <p:nvGrpSpPr>
          <p:cNvPr id="112" name="Vendor diagram (pasted)"/>
          <p:cNvGrpSpPr/>
          <p:nvPr/>
        </p:nvGrpSpPr>
        <p:grpSpPr>
          <a:xfrm>
            <a:off x="822960" y="4297680" cx="822960" cy="4297680"/>
            <a:ext x="12070080" y="1280160" cx="12070080" cy="1280160"/>
            <a:chOff x="822960" y="4297680" cx="822960" cy="4297680"/>
            <a:chExt x="12070080" y="1280160" cx="12070080" cy="1280160"/>
          </a:xfrm>
        </p:grpSpPr>
        <p:sp>
          <p:nvSpPr>
            <p:cNvPr id="7" name="Vendor node 0"/>
            <p:cNvSpPr/>
            <p:nvPr/>
          </p:nvSpPr>
          <p:spPr>
            <a:xfrm>
              <a:off x="822960" y="4297680"/>
              <a:ext cx="1554480" cy="1280160"/>
            </a:xfrm>
            <a:prstGeom prst="ellipse">
              <a:avLst/>
            </a:prstGeom>
            <a:solidFill>
              <a:srgbClr val="F26B21"/>
            </a:solidFill>
            <a:ln w="19050">
              <a:solidFill>
                <a:srgbClr val="7F3F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Vendor node 1"/>
            <p:cNvSpPr/>
            <p:nvPr/>
          </p:nvSpPr>
          <p:spPr>
            <a:xfrm>
              <a:off x="2926079" y="4297680"/>
              <a:ext cx="1554480" cy="1280160"/>
            </a:xfrm>
            <a:prstGeom prst="ellipse">
              <a:avLst/>
            </a:prstGeom>
            <a:solidFill>
              <a:srgbClr val="8E44AD"/>
            </a:solidFill>
            <a:ln w="19050">
              <a:solidFill>
                <a:srgbClr val="7F3F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Vendor node 2"/>
            <p:cNvSpPr/>
            <p:nvPr/>
          </p:nvSpPr>
          <p:spPr>
            <a:xfrm>
              <a:off x="5029200" y="4297680"/>
              <a:ext cx="1554480" cy="1280160"/>
            </a:xfrm>
            <a:prstGeom prst="ellipse">
              <a:avLst/>
            </a:prstGeom>
            <a:solidFill>
              <a:srgbClr val="27AE60"/>
            </a:solidFill>
            <a:ln w="19050">
              <a:solidFill>
                <a:srgbClr val="7F3F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Vendor node 3"/>
            <p:cNvSpPr/>
            <p:nvPr/>
          </p:nvSpPr>
          <p:spPr>
            <a:xfrm>
              <a:off x="7132320" y="4297680"/>
              <a:ext cx="1554480" cy="1280160"/>
            </a:xfrm>
            <a:prstGeom prst="ellipse">
              <a:avLst/>
            </a:prstGeom>
            <a:solidFill>
              <a:srgbClr val="F7B733"/>
            </a:solidFill>
            <a:ln w="19050">
              <a:solidFill>
                <a:srgbClr val="7F3F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Vendor node 4"/>
            <p:cNvSpPr/>
            <p:nvPr/>
          </p:nvSpPr>
          <p:spPr>
            <a:xfrm>
              <a:off x="9235440" y="4297680"/>
              <a:ext cx="1554480" cy="1280160"/>
            </a:xfrm>
            <a:prstGeom prst="ellipse">
              <a:avLst/>
            </a:prstGeom>
            <a:solidFill>
              <a:srgbClr val="E74C3C"/>
            </a:solidFill>
            <a:ln w="19050">
              <a:solidFill>
                <a:srgbClr val="7F3F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Vendor arrow"/>
            <p:cNvSpPr/>
            <p:nvPr/>
          </p:nvSpPr>
          <p:spPr>
            <a:xfrm>
              <a:off x="11338560" y="4297680"/>
              <a:ext cx="1554480" cy="1280160"/>
            </a:xfrm>
            <a:prstGeom prst="chevron">
              <a:avLst/>
            </a:prstGeom>
            <a:gradFill rotWithShape="1">
              <a:gsLst>
                <a:gs pos="0">
                  <a:srgbClr val="FC4A1A"/>
                </a:gs>
                <a:gs pos="100000">
                  <a:srgbClr val="F7B733"/>
                </a:gs>
              </a:gsLst>
              <a:lin scaled="0"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 title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B3A5C"/>
                </a:solidFill>
              </a:rPr>
              <a:t>Plan versus actual</a:t>
            </a:r>
          </a:p>
        </p:txBody>
      </p:sp>
      <p:graphicFrame>
        <p:nvGraphicFramePr>
          <p:cNvPr id="3" name="Vendor chart"/>
          <p:cNvGraphicFramePr>
            <a:graphicFrameLocks noGrp="1"/>
          </p:cNvGraphicFramePr>
          <p:nvPr/>
        </p:nvGraphicFramePr>
        <p:xfrm>
          <a:off x="822960" y="1554480"/>
          <a:ext cx="1051560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